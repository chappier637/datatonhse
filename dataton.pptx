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63" r:id="rId3"/>
    <p:sldId id="257" r:id="rId4"/>
    <p:sldId id="258" r:id="rId5"/>
    <p:sldId id="259" r:id="rId6"/>
    <p:sldId id="260" r:id="rId7"/>
    <p:sldId id="261" r:id="rId8"/>
    <p:sldId id="262" r:id="rId9"/>
  </p:sldIdLst>
  <p:sldSz cx="14630400" cy="8229600"/>
  <p:notesSz cx="8229600" cy="146304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70E2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529"/>
    <p:restoredTop sz="94610"/>
  </p:normalViewPr>
  <p:slideViewPr>
    <p:cSldViewPr snapToGrid="0" snapToObjects="1">
      <p:cViewPr>
        <p:scale>
          <a:sx n="73" d="100"/>
          <a:sy n="73" d="100"/>
        </p:scale>
        <p:origin x="776" y="3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081255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0E48AB-190C-BAB5-4236-79640F0115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737AA00-A3CF-FAC8-B6BF-68A9616C27B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0F6F77F-AD37-4467-48AD-17A8912DE2C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054B06-28C1-B7E7-DDB8-B05B05B999D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698934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8AFC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80E26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8AFC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80E26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8AFC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80E26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8AFC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80E26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8AFC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80E26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8AFC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80E26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8AFC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80E26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2">
            <a:extLst>
              <a:ext uri="{FF2B5EF4-FFF2-40B4-BE49-F238E27FC236}">
                <a16:creationId xmlns:a16="http://schemas.microsoft.com/office/drawing/2014/main" id="{E79B3707-149F-D576-B12F-1AA69AE5F8DB}"/>
              </a:ext>
            </a:extLst>
          </p:cNvPr>
          <p:cNvGrpSpPr/>
          <p:nvPr/>
        </p:nvGrpSpPr>
        <p:grpSpPr>
          <a:xfrm>
            <a:off x="1085783" y="1192509"/>
            <a:ext cx="12458833" cy="5844582"/>
            <a:chOff x="0" y="-66675"/>
            <a:chExt cx="20740121" cy="8905070"/>
          </a:xfrm>
        </p:grpSpPr>
        <p:sp>
          <p:nvSpPr>
            <p:cNvPr id="10" name="TextBox 3">
              <a:extLst>
                <a:ext uri="{FF2B5EF4-FFF2-40B4-BE49-F238E27FC236}">
                  <a16:creationId xmlns:a16="http://schemas.microsoft.com/office/drawing/2014/main" id="{01FC1832-F371-69BA-3564-65FDD13E34E6}"/>
                </a:ext>
              </a:extLst>
            </p:cNvPr>
            <p:cNvSpPr txBox="1"/>
            <p:nvPr/>
          </p:nvSpPr>
          <p:spPr>
            <a:xfrm>
              <a:off x="0" y="1229539"/>
              <a:ext cx="20740121" cy="41952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0890"/>
                </a:lnSpc>
              </a:pPr>
              <a:r>
                <a:rPr lang="en-US" sz="9075" dirty="0" err="1">
                  <a:solidFill>
                    <a:schemeClr val="bg1"/>
                  </a:solidFill>
                  <a:latin typeface="+mj-lt"/>
                  <a:ea typeface="TT Milks Casual Pie Base"/>
                  <a:cs typeface="Arial" panose="020B0604020202020204" pitchFamily="34" charset="0"/>
                  <a:sym typeface="TT Milks Casual Pie Base"/>
                </a:rPr>
                <a:t>Кластеризация</a:t>
              </a:r>
              <a:r>
                <a:rPr lang="en-US" sz="9075" dirty="0">
                  <a:solidFill>
                    <a:schemeClr val="bg1"/>
                  </a:solidFill>
                  <a:latin typeface="+mj-lt"/>
                  <a:ea typeface="TT Milks Casual Pie Base"/>
                  <a:cs typeface="Arial" panose="020B0604020202020204" pitchFamily="34" charset="0"/>
                  <a:sym typeface="TT Milks Casual Pie Base"/>
                </a:rPr>
                <a:t> </a:t>
              </a:r>
              <a:r>
                <a:rPr lang="en-US" sz="9075" dirty="0" err="1">
                  <a:solidFill>
                    <a:schemeClr val="bg1"/>
                  </a:solidFill>
                  <a:latin typeface="+mj-lt"/>
                  <a:ea typeface="TT Milks Casual Pie Base"/>
                  <a:cs typeface="Arial" panose="020B0604020202020204" pitchFamily="34" charset="0"/>
                  <a:sym typeface="TT Milks Casual Pie Base"/>
                </a:rPr>
                <a:t>абонентов</a:t>
              </a:r>
              <a:r>
                <a:rPr lang="en-US" sz="9075" dirty="0">
                  <a:solidFill>
                    <a:schemeClr val="bg1"/>
                  </a:solidFill>
                  <a:latin typeface="+mj-lt"/>
                  <a:ea typeface="TT Milks Casual Pie Base"/>
                  <a:cs typeface="Arial" panose="020B0604020202020204" pitchFamily="34" charset="0"/>
                  <a:sym typeface="TT Milks Casual Pie Base"/>
                </a:rPr>
                <a:t> </a:t>
              </a:r>
              <a:r>
                <a:rPr lang="en-US" sz="9075" dirty="0" err="1">
                  <a:solidFill>
                    <a:schemeClr val="bg1"/>
                  </a:solidFill>
                  <a:latin typeface="+mj-lt"/>
                  <a:ea typeface="TT Milks Casual Pie Base"/>
                  <a:cs typeface="Arial" panose="020B0604020202020204" pitchFamily="34" charset="0"/>
                  <a:sym typeface="TT Milks Casual Pie Base"/>
                </a:rPr>
                <a:t>по</a:t>
              </a:r>
              <a:r>
                <a:rPr lang="en-US" sz="9075" dirty="0">
                  <a:solidFill>
                    <a:schemeClr val="bg1"/>
                  </a:solidFill>
                  <a:latin typeface="+mj-lt"/>
                  <a:ea typeface="TT Milks Casual Pie Base"/>
                  <a:cs typeface="Arial" panose="020B0604020202020204" pitchFamily="34" charset="0"/>
                  <a:sym typeface="TT Milks Casual Pie Base"/>
                </a:rPr>
                <a:t> </a:t>
              </a:r>
              <a:r>
                <a:rPr lang="en-US" sz="9075" dirty="0" err="1">
                  <a:solidFill>
                    <a:schemeClr val="bg1"/>
                  </a:solidFill>
                  <a:latin typeface="+mj-lt"/>
                  <a:ea typeface="TT Milks Casual Pie Base"/>
                  <a:cs typeface="Arial" panose="020B0604020202020204" pitchFamily="34" charset="0"/>
                  <a:sym typeface="TT Milks Casual Pie Base"/>
                </a:rPr>
                <a:t>интересам</a:t>
              </a:r>
              <a:endParaRPr lang="en-US" sz="9075" dirty="0">
                <a:solidFill>
                  <a:schemeClr val="bg1"/>
                </a:solidFill>
                <a:latin typeface="+mj-lt"/>
                <a:ea typeface="TT Milks Casual Pie Base"/>
                <a:cs typeface="Arial" panose="020B0604020202020204" pitchFamily="34" charset="0"/>
                <a:sym typeface="TT Milks Casual Pie Base"/>
              </a:endParaRPr>
            </a:p>
          </p:txBody>
        </p:sp>
        <p:sp>
          <p:nvSpPr>
            <p:cNvPr id="11" name="TextBox 4">
              <a:extLst>
                <a:ext uri="{FF2B5EF4-FFF2-40B4-BE49-F238E27FC236}">
                  <a16:creationId xmlns:a16="http://schemas.microsoft.com/office/drawing/2014/main" id="{DD21F995-7729-77F8-0F91-1DA9CD78FCA6}"/>
                </a:ext>
              </a:extLst>
            </p:cNvPr>
            <p:cNvSpPr txBox="1"/>
            <p:nvPr/>
          </p:nvSpPr>
          <p:spPr>
            <a:xfrm>
              <a:off x="0" y="6677840"/>
              <a:ext cx="20740121" cy="216055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5740"/>
                </a:lnSpc>
              </a:pPr>
              <a:r>
                <a:rPr lang="en-US" sz="4100">
                  <a:solidFill>
                    <a:schemeClr val="bg1"/>
                  </a:solidFill>
                  <a:latin typeface="+mj-lt"/>
                  <a:ea typeface="Clear Sans"/>
                  <a:cs typeface="Arial" panose="020B0604020202020204" pitchFamily="34" charset="0"/>
                  <a:sym typeface="Clear Sans"/>
                </a:rPr>
                <a:t>Полещук Глеб | Алет Аскольд | Шаяров Дидар |Николаев Игорь</a:t>
              </a:r>
            </a:p>
          </p:txBody>
        </p:sp>
        <p:sp>
          <p:nvSpPr>
            <p:cNvPr id="12" name="TextBox 5">
              <a:extLst>
                <a:ext uri="{FF2B5EF4-FFF2-40B4-BE49-F238E27FC236}">
                  <a16:creationId xmlns:a16="http://schemas.microsoft.com/office/drawing/2014/main" id="{CED1CBA8-CFF6-B8DF-5DAE-B83BBB81F8DE}"/>
                </a:ext>
              </a:extLst>
            </p:cNvPr>
            <p:cNvSpPr txBox="1"/>
            <p:nvPr/>
          </p:nvSpPr>
          <p:spPr>
            <a:xfrm>
              <a:off x="0" y="-66675"/>
              <a:ext cx="20740121" cy="84429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620"/>
                </a:lnSpc>
              </a:pPr>
              <a:r>
                <a:rPr lang="en-US" sz="3300">
                  <a:solidFill>
                    <a:schemeClr val="bg1"/>
                  </a:solidFill>
                  <a:latin typeface="+mj-lt"/>
                  <a:ea typeface="Clear Sans"/>
                  <a:cs typeface="Arial" panose="020B0604020202020204" pitchFamily="34" charset="0"/>
                  <a:sym typeface="Clear Sans"/>
                </a:rPr>
                <a:t>Кейс Сбер | Дата хакатон | ВШЭ | 2025-2026 гг. </a:t>
              </a:r>
            </a:p>
          </p:txBody>
        </p:sp>
      </p:grp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4BA0FDB0-F6E9-6986-C456-6AEA4CDBA46D}"/>
              </a:ext>
            </a:extLst>
          </p:cNvPr>
          <p:cNvSpPr/>
          <p:nvPr/>
        </p:nvSpPr>
        <p:spPr>
          <a:xfrm>
            <a:off x="11546958" y="6634716"/>
            <a:ext cx="3083442" cy="1594884"/>
          </a:xfrm>
          <a:prstGeom prst="rect">
            <a:avLst/>
          </a:prstGeom>
          <a:solidFill>
            <a:srgbClr val="070E25"/>
          </a:solidFill>
          <a:ln>
            <a:solidFill>
              <a:srgbClr val="070E2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9400C3-C1C4-D564-F3EF-C3F628BCDF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63E0F66D-2EC5-87E9-4FA8-9602C78C0099}"/>
              </a:ext>
            </a:extLst>
          </p:cNvPr>
          <p:cNvSpPr/>
          <p:nvPr/>
        </p:nvSpPr>
        <p:spPr>
          <a:xfrm>
            <a:off x="793790" y="2016919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FFFFFF"/>
                </a:solidFill>
                <a:latin typeface="+mj-lt"/>
                <a:ea typeface="Fraunces Medium" pitchFamily="34" charset="-122"/>
                <a:cs typeface="Fraunces Medium" pitchFamily="34" charset="-120"/>
              </a:rPr>
              <a:t>Описание задачи</a:t>
            </a:r>
            <a:endParaRPr lang="en-US" sz="4450" dirty="0">
              <a:latin typeface="+mj-lt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BFE0E510-CB0A-8AF9-C994-6BD0FA86DDAE}"/>
              </a:ext>
            </a:extLst>
          </p:cNvPr>
          <p:cNvSpPr/>
          <p:nvPr/>
        </p:nvSpPr>
        <p:spPr>
          <a:xfrm>
            <a:off x="793790" y="3179326"/>
            <a:ext cx="1304282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BECEF"/>
                </a:solidFill>
                <a:latin typeface="+mj-lt"/>
                <a:ea typeface="Epilogue" pitchFamily="34" charset="-122"/>
                <a:cs typeface="Epilogue" pitchFamily="34" charset="-120"/>
              </a:rPr>
              <a:t>Цель: сегментация абонентов по их интернет‑активности (доли посещений по категориям). Кластеризация выполняется только на данных посещений; демография (возраст, пол, регион) — для оценки и интерпретации профилей.</a:t>
            </a:r>
            <a:endParaRPr lang="en-US" sz="1750" dirty="0">
              <a:latin typeface="+mj-lt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6AB5B2B7-9FE3-D8EB-5AFF-CF6E4827AB14}"/>
              </a:ext>
            </a:extLst>
          </p:cNvPr>
          <p:cNvSpPr/>
          <p:nvPr/>
        </p:nvSpPr>
        <p:spPr>
          <a:xfrm>
            <a:off x="793790" y="4523184"/>
            <a:ext cx="13042821" cy="16894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BECEF"/>
                </a:solidFill>
                <a:latin typeface="+mj-lt"/>
                <a:ea typeface="Epilogue" pitchFamily="34" charset="-122"/>
                <a:cs typeface="Epilogue" pitchFamily="34" charset="-120"/>
              </a:rPr>
              <a:t>Построить признаки (доли по категориям)</a:t>
            </a:r>
            <a:endParaRPr lang="en-US" sz="1750" dirty="0">
              <a:latin typeface="+mj-lt"/>
            </a:endParaRPr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BECEF"/>
                </a:solidFill>
                <a:latin typeface="+mj-lt"/>
                <a:ea typeface="Epilogue" pitchFamily="34" charset="-122"/>
                <a:cs typeface="Epilogue" pitchFamily="34" charset="-120"/>
              </a:rPr>
              <a:t>Выделить устойчивые сегменты</a:t>
            </a:r>
            <a:endParaRPr lang="en-US" sz="1750" dirty="0">
              <a:latin typeface="+mj-lt"/>
            </a:endParaRPr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BECEF"/>
                </a:solidFill>
                <a:latin typeface="+mj-lt"/>
                <a:ea typeface="Epilogue" pitchFamily="34" charset="-122"/>
                <a:cs typeface="Epilogue" pitchFamily="34" charset="-120"/>
              </a:rPr>
              <a:t>Описать профили</a:t>
            </a:r>
            <a:endParaRPr lang="en-US" sz="1750" dirty="0">
              <a:latin typeface="+mj-lt"/>
            </a:endParaRPr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BECEF"/>
                </a:solidFill>
                <a:latin typeface="+mj-lt"/>
                <a:ea typeface="Epilogue" pitchFamily="34" charset="-122"/>
                <a:cs typeface="Epilogue" pitchFamily="34" charset="-120"/>
              </a:rPr>
              <a:t>Дать маркетинговые рекомендации</a:t>
            </a:r>
            <a:endParaRPr lang="en-US" sz="1750" dirty="0">
              <a:latin typeface="+mj-lt"/>
            </a:endParaRP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DE194483-6660-4C8B-D917-95849F0109D3}"/>
              </a:ext>
            </a:extLst>
          </p:cNvPr>
          <p:cNvSpPr/>
          <p:nvPr/>
        </p:nvSpPr>
        <p:spPr>
          <a:xfrm>
            <a:off x="11546958" y="6634716"/>
            <a:ext cx="3083442" cy="1594884"/>
          </a:xfrm>
          <a:prstGeom prst="rect">
            <a:avLst/>
          </a:prstGeom>
          <a:solidFill>
            <a:srgbClr val="070E25"/>
          </a:solidFill>
          <a:ln>
            <a:solidFill>
              <a:srgbClr val="070E2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471320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89503" y="629722"/>
            <a:ext cx="5639276" cy="704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00" dirty="0">
                <a:solidFill>
                  <a:srgbClr val="FFFFFF"/>
                </a:solidFill>
                <a:latin typeface="+mj-lt"/>
                <a:ea typeface="Fraunces Medium" pitchFamily="34" charset="-122"/>
                <a:cs typeface="Fraunces Medium" pitchFamily="34" charset="-120"/>
              </a:rPr>
              <a:t>Описание данных</a:t>
            </a:r>
            <a:endParaRPr lang="en-US" sz="4400" dirty="0">
              <a:latin typeface="+mj-lt"/>
            </a:endParaRPr>
          </a:p>
        </p:txBody>
      </p:sp>
      <p:sp>
        <p:nvSpPr>
          <p:cNvPr id="3" name="Text 1"/>
          <p:cNvSpPr/>
          <p:nvPr/>
        </p:nvSpPr>
        <p:spPr>
          <a:xfrm>
            <a:off x="789503" y="4455438"/>
            <a:ext cx="8290798" cy="3599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endParaRPr lang="en-US" sz="1750" dirty="0">
              <a:latin typeface="+mj-lt"/>
            </a:endParaRPr>
          </a:p>
        </p:txBody>
      </p:sp>
      <p:sp>
        <p:nvSpPr>
          <p:cNvPr id="4" name="Text 2"/>
          <p:cNvSpPr/>
          <p:nvPr/>
        </p:nvSpPr>
        <p:spPr>
          <a:xfrm>
            <a:off x="9638228" y="1895356"/>
            <a:ext cx="2819638" cy="3524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+mj-lt"/>
                <a:ea typeface="Fraunces Medium" pitchFamily="34" charset="-122"/>
                <a:cs typeface="Fraunces Medium" pitchFamily="34" charset="-120"/>
              </a:rPr>
              <a:t>Исходные таблицы</a:t>
            </a:r>
            <a:endParaRPr lang="en-US" sz="2200" dirty="0">
              <a:latin typeface="+mj-lt"/>
            </a:endParaRPr>
          </a:p>
        </p:txBody>
      </p:sp>
      <p:sp>
        <p:nvSpPr>
          <p:cNvPr id="5" name="Text 3"/>
          <p:cNvSpPr/>
          <p:nvPr/>
        </p:nvSpPr>
        <p:spPr>
          <a:xfrm>
            <a:off x="9638228" y="2472095"/>
            <a:ext cx="4210288" cy="28333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00"/>
              </a:lnSpc>
              <a:buSzPct val="100000"/>
              <a:buChar char="•"/>
            </a:pPr>
            <a:r>
              <a:rPr lang="en-US" sz="1750" b="1" dirty="0">
                <a:solidFill>
                  <a:srgbClr val="EBECEF"/>
                </a:solidFill>
                <a:latin typeface="+mj-lt"/>
                <a:ea typeface="Epilogue" pitchFamily="34" charset="-122"/>
                <a:cs typeface="Epilogue" pitchFamily="34" charset="-120"/>
              </a:rPr>
              <a:t>clients</a:t>
            </a:r>
            <a:r>
              <a:rPr lang="en-US" sz="1750" dirty="0">
                <a:solidFill>
                  <a:srgbClr val="EBECEF"/>
                </a:solidFill>
                <a:latin typeface="+mj-lt"/>
                <a:ea typeface="Epilogue" pitchFamily="34" charset="-122"/>
                <a:cs typeface="Epilogue" pitchFamily="34" charset="-120"/>
              </a:rPr>
              <a:t> — 50 000 (id, возраст, пол, регион)</a:t>
            </a:r>
            <a:endParaRPr lang="en-US" sz="1750" dirty="0">
              <a:latin typeface="+mj-lt"/>
            </a:endParaRPr>
          </a:p>
          <a:p>
            <a:pPr marL="342900" indent="-342900" algn="l">
              <a:lnSpc>
                <a:spcPts val="2800"/>
              </a:lnSpc>
              <a:buSzPct val="100000"/>
              <a:buChar char="•"/>
            </a:pPr>
            <a:r>
              <a:rPr lang="en-US" sz="1750" b="1" dirty="0">
                <a:solidFill>
                  <a:srgbClr val="EBECEF"/>
                </a:solidFill>
                <a:latin typeface="+mj-lt"/>
                <a:ea typeface="Epilogue" pitchFamily="34" charset="-122"/>
                <a:cs typeface="Epilogue" pitchFamily="34" charset="-120"/>
              </a:rPr>
              <a:t>activity</a:t>
            </a:r>
            <a:r>
              <a:rPr lang="en-US" sz="1750" dirty="0">
                <a:solidFill>
                  <a:srgbClr val="EBECEF"/>
                </a:solidFill>
                <a:latin typeface="+mj-lt"/>
                <a:ea typeface="Epilogue" pitchFamily="34" charset="-122"/>
                <a:cs typeface="Epilogue" pitchFamily="34" charset="-120"/>
              </a:rPr>
              <a:t> — 1 200 000 записей</a:t>
            </a:r>
            <a:endParaRPr lang="en-US" sz="1750" dirty="0">
              <a:latin typeface="+mj-lt"/>
            </a:endParaRPr>
          </a:p>
          <a:p>
            <a:pPr marL="342900" indent="-342900" algn="l">
              <a:lnSpc>
                <a:spcPts val="2800"/>
              </a:lnSpc>
              <a:buSzPct val="100000"/>
              <a:buChar char="•"/>
            </a:pPr>
            <a:r>
              <a:rPr lang="en-US" sz="1750" b="1" dirty="0">
                <a:solidFill>
                  <a:srgbClr val="EBECEF"/>
                </a:solidFill>
                <a:latin typeface="+mj-lt"/>
                <a:ea typeface="Epilogue" pitchFamily="34" charset="-122"/>
                <a:cs typeface="Epilogue" pitchFamily="34" charset="-120"/>
              </a:rPr>
              <a:t>websites</a:t>
            </a:r>
            <a:r>
              <a:rPr lang="en-US" sz="1750" dirty="0">
                <a:solidFill>
                  <a:srgbClr val="EBECEF"/>
                </a:solidFill>
                <a:latin typeface="+mj-lt"/>
                <a:ea typeface="Epilogue" pitchFamily="34" charset="-122"/>
                <a:cs typeface="Epilogue" pitchFamily="34" charset="-120"/>
              </a:rPr>
              <a:t> — 1 251 сайт с категориями</a:t>
            </a:r>
            <a:endParaRPr lang="en-US" sz="1750" dirty="0">
              <a:latin typeface="+mj-lt"/>
            </a:endParaRPr>
          </a:p>
          <a:p>
            <a:pPr marL="342900" indent="-342900" algn="l">
              <a:lnSpc>
                <a:spcPts val="2800"/>
              </a:lnSpc>
              <a:buSzPct val="100000"/>
              <a:buChar char="•"/>
            </a:pPr>
            <a:r>
              <a:rPr lang="en-US" sz="1750" b="1" dirty="0">
                <a:solidFill>
                  <a:srgbClr val="EBECEF"/>
                </a:solidFill>
                <a:latin typeface="+mj-lt"/>
                <a:ea typeface="Epilogue" pitchFamily="34" charset="-122"/>
                <a:cs typeface="Epilogue" pitchFamily="34" charset="-120"/>
              </a:rPr>
              <a:t>categories</a:t>
            </a:r>
            <a:r>
              <a:rPr lang="en-US" sz="1750" dirty="0">
                <a:solidFill>
                  <a:srgbClr val="EBECEF"/>
                </a:solidFill>
                <a:latin typeface="+mj-lt"/>
                <a:ea typeface="Epilogue" pitchFamily="34" charset="-122"/>
                <a:cs typeface="Epilogue" pitchFamily="34" charset="-120"/>
              </a:rPr>
              <a:t> — 30 категорий</a:t>
            </a:r>
            <a:endParaRPr lang="en-US" sz="1750" dirty="0">
              <a:latin typeface="+mj-lt"/>
            </a:endParaRPr>
          </a:p>
          <a:p>
            <a:pPr marL="342900" indent="-342900" algn="l">
              <a:lnSpc>
                <a:spcPts val="2800"/>
              </a:lnSpc>
              <a:buSzPct val="100000"/>
              <a:buChar char="•"/>
            </a:pPr>
            <a:r>
              <a:rPr lang="en-US" sz="1750" b="1" dirty="0">
                <a:solidFill>
                  <a:srgbClr val="EBECEF"/>
                </a:solidFill>
                <a:latin typeface="+mj-lt"/>
                <a:ea typeface="Epilogue" pitchFamily="34" charset="-122"/>
                <a:cs typeface="Epilogue" pitchFamily="34" charset="-120"/>
              </a:rPr>
              <a:t>regions</a:t>
            </a:r>
            <a:r>
              <a:rPr lang="en-US" sz="1750" dirty="0">
                <a:solidFill>
                  <a:srgbClr val="EBECEF"/>
                </a:solidFill>
                <a:latin typeface="+mj-lt"/>
                <a:ea typeface="Epilogue" pitchFamily="34" charset="-122"/>
                <a:cs typeface="Epilogue" pitchFamily="34" charset="-120"/>
              </a:rPr>
              <a:t> — 23 региона</a:t>
            </a:r>
            <a:endParaRPr lang="en-US" sz="1750" dirty="0">
              <a:latin typeface="+mj-lt"/>
            </a:endParaRPr>
          </a:p>
        </p:txBody>
      </p:sp>
      <p:sp>
        <p:nvSpPr>
          <p:cNvPr id="6" name="Shape 4"/>
          <p:cNvSpPr/>
          <p:nvPr/>
        </p:nvSpPr>
        <p:spPr>
          <a:xfrm>
            <a:off x="9638228" y="5670429"/>
            <a:ext cx="4210288" cy="35719"/>
          </a:xfrm>
          <a:prstGeom prst="rect">
            <a:avLst/>
          </a:prstGeom>
          <a:solidFill>
            <a:srgbClr val="EBECEF">
              <a:alpha val="5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9638228" y="5958364"/>
            <a:ext cx="4210288" cy="1439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EBECEF"/>
                </a:solidFill>
                <a:latin typeface="+mj-lt"/>
                <a:ea typeface="Epilogue" pitchFamily="34" charset="-122"/>
                <a:cs typeface="Epilogue" pitchFamily="34" charset="-120"/>
              </a:rPr>
              <a:t>После объединения и удаления записей без категории: 1 385 442 записей активности и 42 796 уникальных активных клиентов.</a:t>
            </a:r>
            <a:endParaRPr lang="en-US" sz="1750" dirty="0">
              <a:latin typeface="+mj-lt"/>
            </a:endParaRP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77B05E06-2FF7-A1B1-1F74-4D12E4A37523}"/>
              </a:ext>
            </a:extLst>
          </p:cNvPr>
          <p:cNvSpPr/>
          <p:nvPr/>
        </p:nvSpPr>
        <p:spPr>
          <a:xfrm>
            <a:off x="12090054" y="7070266"/>
            <a:ext cx="2532185" cy="1160035"/>
          </a:xfrm>
          <a:prstGeom prst="rect">
            <a:avLst/>
          </a:prstGeom>
          <a:solidFill>
            <a:srgbClr val="070E25"/>
          </a:solidFill>
          <a:ln>
            <a:solidFill>
              <a:srgbClr val="070E2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BAD40365-E137-C378-5347-69BBB130CE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9503" y="2068491"/>
            <a:ext cx="7772400" cy="460667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89" y="2952393"/>
            <a:ext cx="604897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FFFFFF"/>
                </a:solidFill>
                <a:latin typeface="+mj-lt"/>
                <a:ea typeface="Fraunces Medium" pitchFamily="34" charset="-122"/>
                <a:cs typeface="Fraunces Medium" pitchFamily="34" charset="-120"/>
              </a:rPr>
              <a:t>Метод кластеризации</a:t>
            </a:r>
            <a:endParaRPr lang="en-US" sz="4450" dirty="0">
              <a:latin typeface="+mj-lt"/>
            </a:endParaRPr>
          </a:p>
        </p:txBody>
      </p:sp>
      <p:sp>
        <p:nvSpPr>
          <p:cNvPr id="3" name="Text 1"/>
          <p:cNvSpPr/>
          <p:nvPr/>
        </p:nvSpPr>
        <p:spPr>
          <a:xfrm>
            <a:off x="793789" y="4114800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BECEF"/>
                </a:solidFill>
                <a:latin typeface="+mj-lt"/>
                <a:ea typeface="Epilogue" pitchFamily="34" charset="-122"/>
                <a:cs typeface="Epilogue" pitchFamily="34" charset="-120"/>
              </a:rPr>
              <a:t>Использован двухэтапный подход: сначала NMF для выделения латентных тем (интересов), затем K‑Means в пространстве NMF‑компонент (после стандартизации).</a:t>
            </a:r>
            <a:endParaRPr lang="en-US" sz="1750" dirty="0">
              <a:latin typeface="+mj-lt"/>
            </a:endParaRP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10A0E5ED-1108-5262-A30E-3031ACAB8323}"/>
              </a:ext>
            </a:extLst>
          </p:cNvPr>
          <p:cNvSpPr/>
          <p:nvPr/>
        </p:nvSpPr>
        <p:spPr>
          <a:xfrm>
            <a:off x="11456553" y="6634716"/>
            <a:ext cx="3083442" cy="1594884"/>
          </a:xfrm>
          <a:prstGeom prst="rect">
            <a:avLst/>
          </a:prstGeom>
          <a:solidFill>
            <a:srgbClr val="070E25"/>
          </a:solidFill>
          <a:ln>
            <a:solidFill>
              <a:srgbClr val="070E2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683062"/>
            <a:ext cx="12320111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FFFFFF"/>
                </a:solidFill>
                <a:latin typeface="+mj-lt"/>
                <a:ea typeface="Fraunces Medium" pitchFamily="34" charset="-122"/>
                <a:cs typeface="Fraunces Medium" pitchFamily="34" charset="-120"/>
              </a:rPr>
              <a:t>Выбор числа кластеров и проверка качества</a:t>
            </a:r>
            <a:endParaRPr lang="en-US" sz="4450" dirty="0">
              <a:latin typeface="+mj-lt"/>
            </a:endParaRPr>
          </a:p>
        </p:txBody>
      </p:sp>
      <p:sp>
        <p:nvSpPr>
          <p:cNvPr id="3" name="Text 1"/>
          <p:cNvSpPr/>
          <p:nvPr/>
        </p:nvSpPr>
        <p:spPr>
          <a:xfrm>
            <a:off x="793790" y="1845469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BECEF"/>
                </a:solidFill>
                <a:latin typeface="+mj-lt"/>
                <a:ea typeface="Epilogue" pitchFamily="34" charset="-122"/>
                <a:cs typeface="Epilogue" pitchFamily="34" charset="-120"/>
              </a:rPr>
              <a:t>Подбор K по коэффициенту силуэта: K=10 даёт максимальный silhouette (0.0602) и значимые различия по возрасту (ANOVA, p &lt; 0.05). Пол и регион — различия незначимы.</a:t>
            </a:r>
            <a:endParaRPr lang="en-US" sz="1750" dirty="0">
              <a:latin typeface="+mj-lt"/>
            </a:endParaRPr>
          </a:p>
        </p:txBody>
      </p:sp>
      <p:sp>
        <p:nvSpPr>
          <p:cNvPr id="4" name="Text 2"/>
          <p:cNvSpPr/>
          <p:nvPr/>
        </p:nvSpPr>
        <p:spPr>
          <a:xfrm>
            <a:off x="9638943" y="305323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+mj-lt"/>
                <a:ea typeface="Fraunces Medium" pitchFamily="34" charset="-122"/>
                <a:cs typeface="Fraunces Medium" pitchFamily="34" charset="-120"/>
              </a:rPr>
              <a:t>Статистика качества</a:t>
            </a:r>
            <a:endParaRPr lang="en-US" sz="2200" dirty="0">
              <a:latin typeface="+mj-lt"/>
            </a:endParaRPr>
          </a:p>
        </p:txBody>
      </p:sp>
      <p:sp>
        <p:nvSpPr>
          <p:cNvPr id="5" name="Text 3"/>
          <p:cNvSpPr/>
          <p:nvPr/>
        </p:nvSpPr>
        <p:spPr>
          <a:xfrm>
            <a:off x="9638943" y="3634383"/>
            <a:ext cx="4205168" cy="2778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BECEF"/>
                </a:solidFill>
                <a:latin typeface="+mj-lt"/>
                <a:ea typeface="Epilogue" pitchFamily="34" charset="-122"/>
                <a:cs typeface="Epilogue" pitchFamily="34" charset="-120"/>
              </a:rPr>
              <a:t>Silhouette: K=6 → 0.0573; K=8 → 0.0583; K=10 → 0.0602; K=12 → 0.0381</a:t>
            </a:r>
            <a:endParaRPr lang="en-US" sz="1750" dirty="0">
              <a:latin typeface="+mj-lt"/>
            </a:endParaRPr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BECEF"/>
                </a:solidFill>
                <a:latin typeface="+mj-lt"/>
                <a:ea typeface="Epilogue" pitchFamily="34" charset="-122"/>
                <a:cs typeface="Epilogue" pitchFamily="34" charset="-120"/>
              </a:rPr>
              <a:t>Пол: p = 0.29 (не значимо)</a:t>
            </a:r>
            <a:endParaRPr lang="en-US" sz="1750" dirty="0">
              <a:latin typeface="+mj-lt"/>
            </a:endParaRPr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BECEF"/>
                </a:solidFill>
                <a:latin typeface="+mj-lt"/>
                <a:ea typeface="Epilogue" pitchFamily="34" charset="-122"/>
                <a:cs typeface="Epilogue" pitchFamily="34" charset="-120"/>
              </a:rPr>
              <a:t>Регион: p = 0.39 (не значимо)</a:t>
            </a:r>
            <a:endParaRPr lang="en-US" sz="1750" dirty="0">
              <a:latin typeface="+mj-lt"/>
            </a:endParaRPr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BECEF"/>
                </a:solidFill>
                <a:latin typeface="+mj-lt"/>
                <a:ea typeface="Epilogue" pitchFamily="34" charset="-122"/>
                <a:cs typeface="Epilogue" pitchFamily="34" charset="-120"/>
              </a:rPr>
              <a:t>Возраст (ANOVA): p = 0.003 (значимо)</a:t>
            </a:r>
            <a:endParaRPr lang="en-US" sz="1750" dirty="0">
              <a:latin typeface="+mj-lt"/>
            </a:endParaRPr>
          </a:p>
        </p:txBody>
      </p:sp>
      <p:sp>
        <p:nvSpPr>
          <p:cNvPr id="6" name="Text 4"/>
          <p:cNvSpPr/>
          <p:nvPr/>
        </p:nvSpPr>
        <p:spPr>
          <a:xfrm>
            <a:off x="9638943" y="6616660"/>
            <a:ext cx="4205168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BECEF"/>
                </a:solidFill>
                <a:latin typeface="+mj-lt"/>
                <a:ea typeface="Epilogue" pitchFamily="34" charset="-122"/>
                <a:cs typeface="Epilogue" pitchFamily="34" charset="-120"/>
              </a:rPr>
              <a:t>Вывод: кластеры различаются по возрасту, сегментация осмысленна.</a:t>
            </a:r>
            <a:endParaRPr lang="en-US" sz="1750" dirty="0">
              <a:latin typeface="+mj-lt"/>
            </a:endParaRP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47D40CAE-AE6D-AEDF-332F-3DE25AB6A590}"/>
              </a:ext>
            </a:extLst>
          </p:cNvPr>
          <p:cNvSpPr/>
          <p:nvPr/>
        </p:nvSpPr>
        <p:spPr>
          <a:xfrm>
            <a:off x="12474178" y="7342465"/>
            <a:ext cx="2148061" cy="887836"/>
          </a:xfrm>
          <a:prstGeom prst="rect">
            <a:avLst/>
          </a:prstGeom>
          <a:solidFill>
            <a:srgbClr val="070E25"/>
          </a:solidFill>
          <a:ln>
            <a:solidFill>
              <a:srgbClr val="070E2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954437B1-7E0F-2E44-8DA7-389C3B3650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21662" y="2736716"/>
            <a:ext cx="6223266" cy="517636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8645" y="366987"/>
            <a:ext cx="4226719" cy="3979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2500" dirty="0">
                <a:solidFill>
                  <a:srgbClr val="FFFFFF"/>
                </a:solidFill>
                <a:latin typeface="+mj-lt"/>
                <a:ea typeface="Fraunces Medium" pitchFamily="34" charset="-122"/>
                <a:cs typeface="Fraunces Medium" pitchFamily="34" charset="-120"/>
              </a:rPr>
              <a:t>Краткая таблица профилей</a:t>
            </a:r>
            <a:endParaRPr lang="en-US" sz="2500" dirty="0">
              <a:latin typeface="+mj-lt"/>
            </a:endParaRPr>
          </a:p>
        </p:txBody>
      </p:sp>
      <p:sp>
        <p:nvSpPr>
          <p:cNvPr id="3" name="Shape 1"/>
          <p:cNvSpPr/>
          <p:nvPr/>
        </p:nvSpPr>
        <p:spPr>
          <a:xfrm>
            <a:off x="2922508" y="2153245"/>
            <a:ext cx="8785384" cy="4463772"/>
          </a:xfrm>
          <a:prstGeom prst="roundRect">
            <a:avLst>
              <a:gd name="adj" fmla="val 0"/>
            </a:avLst>
          </a:prstGeom>
          <a:noFill/>
          <a:ln w="7620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930128" y="2160865"/>
            <a:ext cx="8770144" cy="259913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3057525" y="2211348"/>
            <a:ext cx="180142" cy="1589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endParaRPr lang="en-US" sz="1000" dirty="0">
              <a:latin typeface="+mj-lt"/>
            </a:endParaRPr>
          </a:p>
        </p:txBody>
      </p:sp>
      <p:sp>
        <p:nvSpPr>
          <p:cNvPr id="6" name="Text 4"/>
          <p:cNvSpPr/>
          <p:nvPr/>
        </p:nvSpPr>
        <p:spPr>
          <a:xfrm>
            <a:off x="3499842" y="2211348"/>
            <a:ext cx="1053346" cy="1589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1000" b="1" dirty="0">
                <a:solidFill>
                  <a:srgbClr val="EBECEF"/>
                </a:solidFill>
                <a:latin typeface="+mj-lt"/>
                <a:ea typeface="Epilogue" pitchFamily="34" charset="-122"/>
                <a:cs typeface="Epilogue" pitchFamily="34" charset="-120"/>
              </a:rPr>
              <a:t>Название</a:t>
            </a:r>
            <a:endParaRPr lang="en-US" sz="1000" dirty="0">
              <a:latin typeface="+mj-lt"/>
            </a:endParaRPr>
          </a:p>
        </p:txBody>
      </p:sp>
      <p:sp>
        <p:nvSpPr>
          <p:cNvPr id="7" name="Text 5"/>
          <p:cNvSpPr/>
          <p:nvPr/>
        </p:nvSpPr>
        <p:spPr>
          <a:xfrm>
            <a:off x="4815364" y="2211348"/>
            <a:ext cx="439341" cy="1589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1000" b="1" dirty="0">
                <a:solidFill>
                  <a:srgbClr val="EBECEF"/>
                </a:solidFill>
                <a:latin typeface="+mj-lt"/>
                <a:ea typeface="Epilogue" pitchFamily="34" charset="-122"/>
                <a:cs typeface="Epilogue" pitchFamily="34" charset="-120"/>
              </a:rPr>
              <a:t>n</a:t>
            </a:r>
            <a:endParaRPr lang="en-US" sz="1000" dirty="0">
              <a:latin typeface="+mj-lt"/>
            </a:endParaRPr>
          </a:p>
        </p:txBody>
      </p:sp>
      <p:sp>
        <p:nvSpPr>
          <p:cNvPr id="8" name="Text 6"/>
          <p:cNvSpPr/>
          <p:nvPr/>
        </p:nvSpPr>
        <p:spPr>
          <a:xfrm>
            <a:off x="5516880" y="2211348"/>
            <a:ext cx="790218" cy="1589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1000" b="1" dirty="0">
                <a:solidFill>
                  <a:srgbClr val="EBECEF"/>
                </a:solidFill>
                <a:latin typeface="+mj-lt"/>
                <a:ea typeface="Epilogue" pitchFamily="34" charset="-122"/>
                <a:cs typeface="Epilogue" pitchFamily="34" charset="-120"/>
              </a:rPr>
              <a:t>Возраст</a:t>
            </a:r>
            <a:endParaRPr lang="en-US" sz="1000" dirty="0">
              <a:latin typeface="+mj-lt"/>
            </a:endParaRPr>
          </a:p>
        </p:txBody>
      </p:sp>
      <p:sp>
        <p:nvSpPr>
          <p:cNvPr id="9" name="Text 7"/>
          <p:cNvSpPr/>
          <p:nvPr/>
        </p:nvSpPr>
        <p:spPr>
          <a:xfrm>
            <a:off x="6569273" y="2211348"/>
            <a:ext cx="2368868" cy="1589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1000" b="1" dirty="0">
                <a:solidFill>
                  <a:srgbClr val="EBECEF"/>
                </a:solidFill>
                <a:latin typeface="+mj-lt"/>
                <a:ea typeface="Epilogue" pitchFamily="34" charset="-122"/>
                <a:cs typeface="Epilogue" pitchFamily="34" charset="-120"/>
              </a:rPr>
              <a:t>Топ-категории</a:t>
            </a:r>
            <a:endParaRPr lang="en-US" sz="1000" dirty="0">
              <a:latin typeface="+mj-lt"/>
            </a:endParaRPr>
          </a:p>
        </p:txBody>
      </p:sp>
      <p:sp>
        <p:nvSpPr>
          <p:cNvPr id="10" name="Text 8"/>
          <p:cNvSpPr/>
          <p:nvPr/>
        </p:nvSpPr>
        <p:spPr>
          <a:xfrm>
            <a:off x="9200317" y="2211348"/>
            <a:ext cx="2372678" cy="1589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1000" b="1" dirty="0">
                <a:solidFill>
                  <a:srgbClr val="EBECEF"/>
                </a:solidFill>
                <a:latin typeface="+mj-lt"/>
                <a:ea typeface="Epilogue" pitchFamily="34" charset="-122"/>
                <a:cs typeface="Epilogue" pitchFamily="34" charset="-120"/>
              </a:rPr>
              <a:t>Характерные интересы</a:t>
            </a:r>
            <a:endParaRPr lang="en-US" sz="1000" dirty="0">
              <a:latin typeface="+mj-lt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2930128" y="2420779"/>
            <a:ext cx="8770144" cy="418862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3057525" y="2471261"/>
            <a:ext cx="180142" cy="1589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1000" dirty="0">
                <a:solidFill>
                  <a:srgbClr val="EBECEF"/>
                </a:solidFill>
                <a:latin typeface="+mj-lt"/>
                <a:ea typeface="Epilogue" pitchFamily="34" charset="-122"/>
                <a:cs typeface="Epilogue" pitchFamily="34" charset="-120"/>
              </a:rPr>
              <a:t>0</a:t>
            </a:r>
            <a:endParaRPr lang="en-US" sz="1000" dirty="0">
              <a:latin typeface="+mj-lt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3499842" y="2471261"/>
            <a:ext cx="1053346" cy="3178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1000" dirty="0">
                <a:solidFill>
                  <a:srgbClr val="EBECEF"/>
                </a:solidFill>
                <a:latin typeface="+mj-lt"/>
                <a:ea typeface="Epilogue" pitchFamily="34" charset="-122"/>
                <a:cs typeface="Epilogue" pitchFamily="34" charset="-120"/>
              </a:rPr>
              <a:t>Красота и забота о себе</a:t>
            </a:r>
            <a:endParaRPr lang="en-US" sz="1000" dirty="0">
              <a:latin typeface="+mj-lt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4815364" y="2471261"/>
            <a:ext cx="439341" cy="1589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1000" dirty="0">
                <a:solidFill>
                  <a:srgbClr val="EBECEF"/>
                </a:solidFill>
                <a:latin typeface="+mj-lt"/>
                <a:ea typeface="Epilogue" pitchFamily="34" charset="-122"/>
                <a:cs typeface="Epilogue" pitchFamily="34" charset="-120"/>
              </a:rPr>
              <a:t>5424</a:t>
            </a:r>
            <a:endParaRPr lang="en-US" sz="1000" dirty="0">
              <a:latin typeface="+mj-lt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5516880" y="2471261"/>
            <a:ext cx="790218" cy="1589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1000" dirty="0">
                <a:solidFill>
                  <a:srgbClr val="EBECEF"/>
                </a:solidFill>
                <a:latin typeface="+mj-lt"/>
                <a:ea typeface="Epilogue" pitchFamily="34" charset="-122"/>
                <a:cs typeface="Epilogue" pitchFamily="34" charset="-120"/>
              </a:rPr>
              <a:t>35.0±11.5</a:t>
            </a:r>
            <a:endParaRPr lang="en-US" sz="1000" dirty="0">
              <a:latin typeface="+mj-lt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6569273" y="2471261"/>
            <a:ext cx="2368868" cy="3178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1000" dirty="0">
                <a:solidFill>
                  <a:srgbClr val="EBECEF"/>
                </a:solidFill>
                <a:latin typeface="+mj-lt"/>
                <a:ea typeface="Epilogue" pitchFamily="34" charset="-122"/>
                <a:cs typeface="Epilogue" pitchFamily="34" charset="-120"/>
              </a:rPr>
              <a:t>Спорт, Красота, Ювелирные, Аксессуары, Одежда</a:t>
            </a:r>
            <a:endParaRPr lang="en-US" sz="1000" dirty="0">
              <a:latin typeface="+mj-lt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9200317" y="2471261"/>
            <a:ext cx="2372678" cy="3178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1000" dirty="0">
                <a:solidFill>
                  <a:srgbClr val="EBECEF"/>
                </a:solidFill>
                <a:latin typeface="+mj-lt"/>
                <a:ea typeface="Epilogue" pitchFamily="34" charset="-122"/>
                <a:cs typeface="Epilogue" pitchFamily="34" charset="-120"/>
              </a:rPr>
              <a:t>Красота и здоровье, Соцсети, Медицина</a:t>
            </a:r>
            <a:endParaRPr lang="en-US" sz="1000" dirty="0">
              <a:latin typeface="+mj-lt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2930128" y="2839641"/>
            <a:ext cx="8770144" cy="418862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3057525" y="2890123"/>
            <a:ext cx="180142" cy="1589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1000" dirty="0">
                <a:solidFill>
                  <a:srgbClr val="EBECEF"/>
                </a:solidFill>
                <a:latin typeface="+mj-lt"/>
                <a:ea typeface="Epilogue" pitchFamily="34" charset="-122"/>
                <a:cs typeface="Epilogue" pitchFamily="34" charset="-120"/>
              </a:rPr>
              <a:t>1</a:t>
            </a:r>
            <a:endParaRPr lang="en-US" sz="1000" dirty="0">
              <a:latin typeface="+mj-lt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3499842" y="2890123"/>
            <a:ext cx="1053346" cy="3178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1000" dirty="0">
                <a:solidFill>
                  <a:srgbClr val="EBECEF"/>
                </a:solidFill>
                <a:latin typeface="+mj-lt"/>
                <a:ea typeface="Epilogue" pitchFamily="34" charset="-122"/>
                <a:cs typeface="Epilogue" pitchFamily="34" charset="-120"/>
              </a:rPr>
              <a:t>Образование и досуг</a:t>
            </a:r>
            <a:endParaRPr lang="en-US" sz="1000" dirty="0">
              <a:latin typeface="+mj-lt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4815364" y="2890123"/>
            <a:ext cx="439341" cy="1589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1000" dirty="0">
                <a:solidFill>
                  <a:srgbClr val="EBECEF"/>
                </a:solidFill>
                <a:latin typeface="+mj-lt"/>
                <a:ea typeface="Epilogue" pitchFamily="34" charset="-122"/>
                <a:cs typeface="Epilogue" pitchFamily="34" charset="-120"/>
              </a:rPr>
              <a:t>6350</a:t>
            </a:r>
            <a:endParaRPr lang="en-US" sz="1000" dirty="0">
              <a:latin typeface="+mj-lt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5516880" y="2890123"/>
            <a:ext cx="790218" cy="1589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1000" dirty="0">
                <a:solidFill>
                  <a:srgbClr val="EBECEF"/>
                </a:solidFill>
                <a:latin typeface="+mj-lt"/>
                <a:ea typeface="Epilogue" pitchFamily="34" charset="-122"/>
                <a:cs typeface="Epilogue" pitchFamily="34" charset="-120"/>
              </a:rPr>
              <a:t>35.3±11.3</a:t>
            </a:r>
            <a:endParaRPr lang="en-US" sz="1000" dirty="0">
              <a:latin typeface="+mj-lt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6569273" y="2890123"/>
            <a:ext cx="2368868" cy="3178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1000" dirty="0">
                <a:solidFill>
                  <a:srgbClr val="EBECEF"/>
                </a:solidFill>
                <a:latin typeface="+mj-lt"/>
                <a:ea typeface="Epilogue" pitchFamily="34" charset="-122"/>
                <a:cs typeface="Epilogue" pitchFamily="34" charset="-120"/>
              </a:rPr>
              <a:t>Спорт, Образование, Ювелирные, Аксессуары, Развлечения</a:t>
            </a:r>
            <a:endParaRPr lang="en-US" sz="1000" dirty="0">
              <a:latin typeface="+mj-lt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9200317" y="2890123"/>
            <a:ext cx="2372678" cy="3178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1000" dirty="0">
                <a:solidFill>
                  <a:srgbClr val="EBECEF"/>
                </a:solidFill>
                <a:latin typeface="+mj-lt"/>
                <a:ea typeface="Epilogue" pitchFamily="34" charset="-122"/>
                <a:cs typeface="Epilogue" pitchFamily="34" charset="-120"/>
              </a:rPr>
              <a:t>Образование, Развлечения, Кафе, Онлайн‑кинотеатры</a:t>
            </a:r>
            <a:endParaRPr lang="en-US" sz="1000" dirty="0">
              <a:latin typeface="+mj-lt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2930128" y="3258502"/>
            <a:ext cx="8770144" cy="418862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3057525" y="3308985"/>
            <a:ext cx="180142" cy="1589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1000" dirty="0">
                <a:solidFill>
                  <a:srgbClr val="EBECEF"/>
                </a:solidFill>
                <a:latin typeface="+mj-lt"/>
                <a:ea typeface="Epilogue" pitchFamily="34" charset="-122"/>
                <a:cs typeface="Epilogue" pitchFamily="34" charset="-120"/>
              </a:rPr>
              <a:t>2</a:t>
            </a:r>
            <a:endParaRPr lang="en-US" sz="1000" dirty="0">
              <a:latin typeface="+mj-lt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3499842" y="3308985"/>
            <a:ext cx="1053346" cy="3178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1000" dirty="0">
                <a:solidFill>
                  <a:srgbClr val="EBECEF"/>
                </a:solidFill>
                <a:latin typeface="+mj-lt"/>
                <a:ea typeface="Epilogue" pitchFamily="34" charset="-122"/>
                <a:cs typeface="Epilogue" pitchFamily="34" charset="-120"/>
              </a:rPr>
              <a:t>Премиум‑потребители</a:t>
            </a:r>
            <a:endParaRPr lang="en-US" sz="1000" dirty="0">
              <a:latin typeface="+mj-lt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4815364" y="3308985"/>
            <a:ext cx="439341" cy="1589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1000" dirty="0">
                <a:solidFill>
                  <a:srgbClr val="EBECEF"/>
                </a:solidFill>
                <a:latin typeface="+mj-lt"/>
                <a:ea typeface="Epilogue" pitchFamily="34" charset="-122"/>
                <a:cs typeface="Epilogue" pitchFamily="34" charset="-120"/>
              </a:rPr>
              <a:t>2027</a:t>
            </a:r>
            <a:endParaRPr lang="en-US" sz="1000" dirty="0">
              <a:latin typeface="+mj-lt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5516880" y="3308985"/>
            <a:ext cx="790218" cy="1589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1000" dirty="0">
                <a:solidFill>
                  <a:srgbClr val="EBECEF"/>
                </a:solidFill>
                <a:latin typeface="+mj-lt"/>
                <a:ea typeface="Epilogue" pitchFamily="34" charset="-122"/>
                <a:cs typeface="Epilogue" pitchFamily="34" charset="-120"/>
              </a:rPr>
              <a:t>34.6±11.4</a:t>
            </a:r>
            <a:endParaRPr lang="en-US" sz="1000" dirty="0">
              <a:latin typeface="+mj-lt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6569273" y="3308985"/>
            <a:ext cx="2368868" cy="3178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1000" dirty="0">
                <a:solidFill>
                  <a:srgbClr val="EBECEF"/>
                </a:solidFill>
                <a:latin typeface="+mj-lt"/>
                <a:ea typeface="Epilogue" pitchFamily="34" charset="-122"/>
                <a:cs typeface="Epilogue" pitchFamily="34" charset="-120"/>
              </a:rPr>
              <a:t>Ювелирные, Спорт, Аксессуары, Одежда, Обувь</a:t>
            </a:r>
            <a:endParaRPr lang="en-US" sz="1000" dirty="0">
              <a:latin typeface="+mj-lt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9200317" y="3308985"/>
            <a:ext cx="2372678" cy="3178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1000" dirty="0">
                <a:solidFill>
                  <a:srgbClr val="EBECEF"/>
                </a:solidFill>
                <a:latin typeface="+mj-lt"/>
                <a:ea typeface="Epilogue" pitchFamily="34" charset="-122"/>
                <a:cs typeface="Epilogue" pitchFamily="34" charset="-120"/>
              </a:rPr>
              <a:t>Ювелирные изделия, Спорт, Недвижимость</a:t>
            </a:r>
            <a:endParaRPr lang="en-US" sz="1000" dirty="0">
              <a:latin typeface="+mj-lt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2930128" y="3677364"/>
            <a:ext cx="8770144" cy="418862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33" name="Text 31"/>
          <p:cNvSpPr/>
          <p:nvPr/>
        </p:nvSpPr>
        <p:spPr>
          <a:xfrm>
            <a:off x="3057525" y="3727847"/>
            <a:ext cx="180142" cy="1589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1000" dirty="0">
                <a:solidFill>
                  <a:srgbClr val="EBECEF"/>
                </a:solidFill>
                <a:latin typeface="+mj-lt"/>
                <a:ea typeface="Epilogue" pitchFamily="34" charset="-122"/>
                <a:cs typeface="Epilogue" pitchFamily="34" charset="-120"/>
              </a:rPr>
              <a:t>3</a:t>
            </a:r>
            <a:endParaRPr lang="en-US" sz="1000" dirty="0">
              <a:latin typeface="+mj-lt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3499842" y="3727847"/>
            <a:ext cx="1053346" cy="3178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1000" dirty="0">
                <a:solidFill>
                  <a:srgbClr val="EBECEF"/>
                </a:solidFill>
                <a:latin typeface="+mj-lt"/>
                <a:ea typeface="Epilogue" pitchFamily="34" charset="-122"/>
                <a:cs typeface="Epilogue" pitchFamily="34" charset="-120"/>
              </a:rPr>
              <a:t>Владельцы питомцев</a:t>
            </a:r>
            <a:endParaRPr lang="en-US" sz="1000" dirty="0">
              <a:latin typeface="+mj-lt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4815364" y="3727847"/>
            <a:ext cx="439341" cy="1589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1000" dirty="0">
                <a:solidFill>
                  <a:srgbClr val="EBECEF"/>
                </a:solidFill>
                <a:latin typeface="+mj-lt"/>
                <a:ea typeface="Epilogue" pitchFamily="34" charset="-122"/>
                <a:cs typeface="Epilogue" pitchFamily="34" charset="-120"/>
              </a:rPr>
              <a:t>3146</a:t>
            </a:r>
            <a:endParaRPr lang="en-US" sz="1000" dirty="0">
              <a:latin typeface="+mj-lt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5516880" y="3727847"/>
            <a:ext cx="790218" cy="1589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1000" dirty="0">
                <a:solidFill>
                  <a:srgbClr val="EBECEF"/>
                </a:solidFill>
                <a:latin typeface="+mj-lt"/>
                <a:ea typeface="Epilogue" pitchFamily="34" charset="-122"/>
                <a:cs typeface="Epilogue" pitchFamily="34" charset="-120"/>
              </a:rPr>
              <a:t>34.9±11.6</a:t>
            </a:r>
            <a:endParaRPr lang="en-US" sz="1000" dirty="0">
              <a:latin typeface="+mj-lt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6569273" y="3727847"/>
            <a:ext cx="2368868" cy="3178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1000" dirty="0">
                <a:solidFill>
                  <a:srgbClr val="EBECEF"/>
                </a:solidFill>
                <a:latin typeface="+mj-lt"/>
                <a:ea typeface="Epilogue" pitchFamily="34" charset="-122"/>
                <a:cs typeface="Epilogue" pitchFamily="34" charset="-120"/>
              </a:rPr>
              <a:t>Спорт, Питомцы, Ювелирные, Аксессуары, Одежда</a:t>
            </a:r>
            <a:endParaRPr lang="en-US" sz="1000" dirty="0">
              <a:latin typeface="+mj-lt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9200317" y="3727847"/>
            <a:ext cx="2372678" cy="1589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1000" dirty="0">
                <a:solidFill>
                  <a:srgbClr val="EBECEF"/>
                </a:solidFill>
                <a:latin typeface="+mj-lt"/>
                <a:ea typeface="Epilogue" pitchFamily="34" charset="-122"/>
                <a:cs typeface="Epilogue" pitchFamily="34" charset="-120"/>
              </a:rPr>
              <a:t>Питомцы, Спорт, Кафе и рестораны</a:t>
            </a:r>
            <a:endParaRPr lang="en-US" sz="1000" dirty="0">
              <a:latin typeface="+mj-lt"/>
            </a:endParaRPr>
          </a:p>
        </p:txBody>
      </p:sp>
      <p:sp>
        <p:nvSpPr>
          <p:cNvPr id="39" name="Shape 37"/>
          <p:cNvSpPr/>
          <p:nvPr/>
        </p:nvSpPr>
        <p:spPr>
          <a:xfrm>
            <a:off x="2930128" y="4096226"/>
            <a:ext cx="8770144" cy="418862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40" name="Text 38"/>
          <p:cNvSpPr/>
          <p:nvPr/>
        </p:nvSpPr>
        <p:spPr>
          <a:xfrm>
            <a:off x="3057525" y="4146709"/>
            <a:ext cx="180142" cy="1589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1000" dirty="0">
                <a:solidFill>
                  <a:srgbClr val="EBECEF"/>
                </a:solidFill>
                <a:latin typeface="+mj-lt"/>
                <a:ea typeface="Epilogue" pitchFamily="34" charset="-122"/>
                <a:cs typeface="Epilogue" pitchFamily="34" charset="-120"/>
              </a:rPr>
              <a:t>4</a:t>
            </a:r>
            <a:endParaRPr lang="en-US" sz="1000" dirty="0">
              <a:latin typeface="+mj-lt"/>
            </a:endParaRPr>
          </a:p>
        </p:txBody>
      </p:sp>
      <p:sp>
        <p:nvSpPr>
          <p:cNvPr id="41" name="Text 39"/>
          <p:cNvSpPr/>
          <p:nvPr/>
        </p:nvSpPr>
        <p:spPr>
          <a:xfrm>
            <a:off x="3499842" y="4146709"/>
            <a:ext cx="1053346" cy="1589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1000" dirty="0">
                <a:solidFill>
                  <a:srgbClr val="EBECEF"/>
                </a:solidFill>
                <a:latin typeface="+mj-lt"/>
                <a:ea typeface="Epilogue" pitchFamily="34" charset="-122"/>
                <a:cs typeface="Epilogue" pitchFamily="34" charset="-120"/>
              </a:rPr>
              <a:t>Семьи с детьми</a:t>
            </a:r>
            <a:endParaRPr lang="en-US" sz="1000" dirty="0">
              <a:latin typeface="+mj-lt"/>
            </a:endParaRPr>
          </a:p>
        </p:txBody>
      </p:sp>
      <p:sp>
        <p:nvSpPr>
          <p:cNvPr id="42" name="Text 40"/>
          <p:cNvSpPr/>
          <p:nvPr/>
        </p:nvSpPr>
        <p:spPr>
          <a:xfrm>
            <a:off x="4815364" y="4146709"/>
            <a:ext cx="439341" cy="1589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1000" dirty="0">
                <a:solidFill>
                  <a:srgbClr val="EBECEF"/>
                </a:solidFill>
                <a:latin typeface="+mj-lt"/>
                <a:ea typeface="Epilogue" pitchFamily="34" charset="-122"/>
                <a:cs typeface="Epilogue" pitchFamily="34" charset="-120"/>
              </a:rPr>
              <a:t>2883</a:t>
            </a:r>
            <a:endParaRPr lang="en-US" sz="1000" dirty="0">
              <a:latin typeface="+mj-lt"/>
            </a:endParaRPr>
          </a:p>
        </p:txBody>
      </p:sp>
      <p:sp>
        <p:nvSpPr>
          <p:cNvPr id="43" name="Text 41"/>
          <p:cNvSpPr/>
          <p:nvPr/>
        </p:nvSpPr>
        <p:spPr>
          <a:xfrm>
            <a:off x="5516880" y="4146709"/>
            <a:ext cx="790218" cy="1589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1000" dirty="0">
                <a:solidFill>
                  <a:srgbClr val="EBECEF"/>
                </a:solidFill>
                <a:latin typeface="+mj-lt"/>
                <a:ea typeface="Epilogue" pitchFamily="34" charset="-122"/>
                <a:cs typeface="Epilogue" pitchFamily="34" charset="-120"/>
              </a:rPr>
              <a:t>35.4±11.4</a:t>
            </a:r>
            <a:endParaRPr lang="en-US" sz="1000" dirty="0">
              <a:latin typeface="+mj-lt"/>
            </a:endParaRPr>
          </a:p>
        </p:txBody>
      </p:sp>
      <p:sp>
        <p:nvSpPr>
          <p:cNvPr id="44" name="Text 42"/>
          <p:cNvSpPr/>
          <p:nvPr/>
        </p:nvSpPr>
        <p:spPr>
          <a:xfrm>
            <a:off x="6569273" y="4146709"/>
            <a:ext cx="2368868" cy="3178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1000" dirty="0">
                <a:solidFill>
                  <a:srgbClr val="EBECEF"/>
                </a:solidFill>
                <a:latin typeface="+mj-lt"/>
                <a:ea typeface="Epilogue" pitchFamily="34" charset="-122"/>
                <a:cs typeface="Epilogue" pitchFamily="34" charset="-120"/>
              </a:rPr>
              <a:t>Спорт, Детские товары, Ювелирные, Аксессуары, Одежда</a:t>
            </a:r>
            <a:endParaRPr lang="en-US" sz="1000" dirty="0">
              <a:latin typeface="+mj-lt"/>
            </a:endParaRPr>
          </a:p>
        </p:txBody>
      </p:sp>
      <p:sp>
        <p:nvSpPr>
          <p:cNvPr id="45" name="Text 43"/>
          <p:cNvSpPr/>
          <p:nvPr/>
        </p:nvSpPr>
        <p:spPr>
          <a:xfrm>
            <a:off x="9200317" y="4146709"/>
            <a:ext cx="2372678" cy="1589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1000" dirty="0">
                <a:solidFill>
                  <a:srgbClr val="EBECEF"/>
                </a:solidFill>
                <a:latin typeface="+mj-lt"/>
                <a:ea typeface="Epilogue" pitchFamily="34" charset="-122"/>
                <a:cs typeface="Epilogue" pitchFamily="34" charset="-120"/>
              </a:rPr>
              <a:t>Детские товары, Спорт, Финансы</a:t>
            </a:r>
            <a:endParaRPr lang="en-US" sz="1000" dirty="0">
              <a:latin typeface="+mj-lt"/>
            </a:endParaRPr>
          </a:p>
        </p:txBody>
      </p:sp>
      <p:sp>
        <p:nvSpPr>
          <p:cNvPr id="46" name="Shape 44"/>
          <p:cNvSpPr/>
          <p:nvPr/>
        </p:nvSpPr>
        <p:spPr>
          <a:xfrm>
            <a:off x="2930128" y="4515088"/>
            <a:ext cx="8770144" cy="418862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47" name="Text 45"/>
          <p:cNvSpPr/>
          <p:nvPr/>
        </p:nvSpPr>
        <p:spPr>
          <a:xfrm>
            <a:off x="3057525" y="4565571"/>
            <a:ext cx="180142" cy="1589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1000" dirty="0">
                <a:solidFill>
                  <a:srgbClr val="EBECEF"/>
                </a:solidFill>
                <a:latin typeface="+mj-lt"/>
                <a:ea typeface="Epilogue" pitchFamily="34" charset="-122"/>
                <a:cs typeface="Epilogue" pitchFamily="34" charset="-120"/>
              </a:rPr>
              <a:t>5</a:t>
            </a:r>
            <a:endParaRPr lang="en-US" sz="1000" dirty="0">
              <a:latin typeface="+mj-lt"/>
            </a:endParaRPr>
          </a:p>
        </p:txBody>
      </p:sp>
      <p:sp>
        <p:nvSpPr>
          <p:cNvPr id="48" name="Text 46"/>
          <p:cNvSpPr/>
          <p:nvPr/>
        </p:nvSpPr>
        <p:spPr>
          <a:xfrm>
            <a:off x="3499842" y="4565571"/>
            <a:ext cx="1053346" cy="3178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1000" dirty="0">
                <a:solidFill>
                  <a:srgbClr val="EBECEF"/>
                </a:solidFill>
                <a:latin typeface="+mj-lt"/>
                <a:ea typeface="Epilogue" pitchFamily="34" charset="-122"/>
                <a:cs typeface="Epilogue" pitchFamily="34" charset="-120"/>
              </a:rPr>
              <a:t>Техноэнтузиасты</a:t>
            </a:r>
            <a:endParaRPr lang="en-US" sz="1000" dirty="0">
              <a:latin typeface="+mj-lt"/>
            </a:endParaRPr>
          </a:p>
        </p:txBody>
      </p:sp>
      <p:sp>
        <p:nvSpPr>
          <p:cNvPr id="49" name="Text 47"/>
          <p:cNvSpPr/>
          <p:nvPr/>
        </p:nvSpPr>
        <p:spPr>
          <a:xfrm>
            <a:off x="4815364" y="4565571"/>
            <a:ext cx="439341" cy="1589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1000" dirty="0">
                <a:solidFill>
                  <a:srgbClr val="EBECEF"/>
                </a:solidFill>
                <a:latin typeface="+mj-lt"/>
                <a:ea typeface="Epilogue" pitchFamily="34" charset="-122"/>
                <a:cs typeface="Epilogue" pitchFamily="34" charset="-120"/>
              </a:rPr>
              <a:t>4120</a:t>
            </a:r>
            <a:endParaRPr lang="en-US" sz="1000" dirty="0">
              <a:latin typeface="+mj-lt"/>
            </a:endParaRPr>
          </a:p>
        </p:txBody>
      </p:sp>
      <p:sp>
        <p:nvSpPr>
          <p:cNvPr id="50" name="Text 48"/>
          <p:cNvSpPr/>
          <p:nvPr/>
        </p:nvSpPr>
        <p:spPr>
          <a:xfrm>
            <a:off x="5516880" y="4565571"/>
            <a:ext cx="790218" cy="1589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1000" dirty="0">
                <a:solidFill>
                  <a:srgbClr val="EBECEF"/>
                </a:solidFill>
                <a:latin typeface="+mj-lt"/>
                <a:ea typeface="Epilogue" pitchFamily="34" charset="-122"/>
                <a:cs typeface="Epilogue" pitchFamily="34" charset="-120"/>
              </a:rPr>
              <a:t>32.5±10.8</a:t>
            </a:r>
            <a:endParaRPr lang="en-US" sz="1000" dirty="0">
              <a:latin typeface="+mj-lt"/>
            </a:endParaRPr>
          </a:p>
        </p:txBody>
      </p:sp>
      <p:sp>
        <p:nvSpPr>
          <p:cNvPr id="51" name="Text 49"/>
          <p:cNvSpPr/>
          <p:nvPr/>
        </p:nvSpPr>
        <p:spPr>
          <a:xfrm>
            <a:off x="6569273" y="4565571"/>
            <a:ext cx="2368868" cy="3178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1000" dirty="0">
                <a:solidFill>
                  <a:srgbClr val="EBECEF"/>
                </a:solidFill>
                <a:latin typeface="+mj-lt"/>
                <a:ea typeface="Epilogue" pitchFamily="34" charset="-122"/>
                <a:cs typeface="Epilogue" pitchFamily="34" charset="-120"/>
              </a:rPr>
              <a:t>Техника, Гаджеты, Спорт, Развлечения, Образование</a:t>
            </a:r>
            <a:endParaRPr lang="en-US" sz="1000" dirty="0">
              <a:latin typeface="+mj-lt"/>
            </a:endParaRPr>
          </a:p>
        </p:txBody>
      </p:sp>
      <p:sp>
        <p:nvSpPr>
          <p:cNvPr id="52" name="Text 50"/>
          <p:cNvSpPr/>
          <p:nvPr/>
        </p:nvSpPr>
        <p:spPr>
          <a:xfrm>
            <a:off x="9200317" y="4565571"/>
            <a:ext cx="2372678" cy="3178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1000" dirty="0">
                <a:solidFill>
                  <a:srgbClr val="EBECEF"/>
                </a:solidFill>
                <a:latin typeface="+mj-lt"/>
                <a:ea typeface="Epilogue" pitchFamily="34" charset="-122"/>
                <a:cs typeface="Epilogue" pitchFamily="34" charset="-120"/>
              </a:rPr>
              <a:t>Игры, Программирование, Компьютеры, Наука</a:t>
            </a:r>
            <a:endParaRPr lang="en-US" sz="1000" dirty="0">
              <a:latin typeface="+mj-lt"/>
            </a:endParaRPr>
          </a:p>
        </p:txBody>
      </p:sp>
      <p:sp>
        <p:nvSpPr>
          <p:cNvPr id="53" name="Shape 51"/>
          <p:cNvSpPr/>
          <p:nvPr/>
        </p:nvSpPr>
        <p:spPr>
          <a:xfrm>
            <a:off x="2930128" y="4933950"/>
            <a:ext cx="8770144" cy="418862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54" name="Text 52"/>
          <p:cNvSpPr/>
          <p:nvPr/>
        </p:nvSpPr>
        <p:spPr>
          <a:xfrm>
            <a:off x="3057525" y="4984432"/>
            <a:ext cx="180142" cy="1589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1000" dirty="0">
                <a:solidFill>
                  <a:srgbClr val="EBECEF"/>
                </a:solidFill>
                <a:latin typeface="+mj-lt"/>
                <a:ea typeface="Epilogue" pitchFamily="34" charset="-122"/>
                <a:cs typeface="Epilogue" pitchFamily="34" charset="-120"/>
              </a:rPr>
              <a:t>6</a:t>
            </a:r>
            <a:endParaRPr lang="en-US" sz="1000" dirty="0">
              <a:latin typeface="+mj-lt"/>
            </a:endParaRPr>
          </a:p>
        </p:txBody>
      </p:sp>
      <p:sp>
        <p:nvSpPr>
          <p:cNvPr id="55" name="Text 53"/>
          <p:cNvSpPr/>
          <p:nvPr/>
        </p:nvSpPr>
        <p:spPr>
          <a:xfrm>
            <a:off x="3499842" y="4984432"/>
            <a:ext cx="1053346" cy="1589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1000" dirty="0">
                <a:solidFill>
                  <a:srgbClr val="EBECEF"/>
                </a:solidFill>
                <a:latin typeface="+mj-lt"/>
                <a:ea typeface="Epilogue" pitchFamily="34" charset="-122"/>
                <a:cs typeface="Epilogue" pitchFamily="34" charset="-120"/>
              </a:rPr>
              <a:t>Домашний уют</a:t>
            </a:r>
            <a:endParaRPr lang="en-US" sz="1000" dirty="0">
              <a:latin typeface="+mj-lt"/>
            </a:endParaRPr>
          </a:p>
        </p:txBody>
      </p:sp>
      <p:sp>
        <p:nvSpPr>
          <p:cNvPr id="56" name="Text 54"/>
          <p:cNvSpPr/>
          <p:nvPr/>
        </p:nvSpPr>
        <p:spPr>
          <a:xfrm>
            <a:off x="4815364" y="4984432"/>
            <a:ext cx="439341" cy="1589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1000" dirty="0">
                <a:solidFill>
                  <a:srgbClr val="EBECEF"/>
                </a:solidFill>
                <a:latin typeface="+mj-lt"/>
                <a:ea typeface="Epilogue" pitchFamily="34" charset="-122"/>
                <a:cs typeface="Epilogue" pitchFamily="34" charset="-120"/>
              </a:rPr>
              <a:t>3890</a:t>
            </a:r>
            <a:endParaRPr lang="en-US" sz="1000" dirty="0">
              <a:latin typeface="+mj-lt"/>
            </a:endParaRPr>
          </a:p>
        </p:txBody>
      </p:sp>
      <p:sp>
        <p:nvSpPr>
          <p:cNvPr id="57" name="Text 55"/>
          <p:cNvSpPr/>
          <p:nvPr/>
        </p:nvSpPr>
        <p:spPr>
          <a:xfrm>
            <a:off x="5516880" y="4984432"/>
            <a:ext cx="790218" cy="1589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1000" dirty="0">
                <a:solidFill>
                  <a:srgbClr val="EBECEF"/>
                </a:solidFill>
                <a:latin typeface="+mj-lt"/>
                <a:ea typeface="Epilogue" pitchFamily="34" charset="-122"/>
                <a:cs typeface="Epilogue" pitchFamily="34" charset="-120"/>
              </a:rPr>
              <a:t>40.1±12.1</a:t>
            </a:r>
            <a:endParaRPr lang="en-US" sz="1000" dirty="0">
              <a:latin typeface="+mj-lt"/>
            </a:endParaRPr>
          </a:p>
        </p:txBody>
      </p:sp>
      <p:sp>
        <p:nvSpPr>
          <p:cNvPr id="58" name="Text 56"/>
          <p:cNvSpPr/>
          <p:nvPr/>
        </p:nvSpPr>
        <p:spPr>
          <a:xfrm>
            <a:off x="6569273" y="4984432"/>
            <a:ext cx="2368868" cy="3178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1000" dirty="0">
                <a:solidFill>
                  <a:srgbClr val="EBECEF"/>
                </a:solidFill>
                <a:latin typeface="+mj-lt"/>
                <a:ea typeface="Epilogue" pitchFamily="34" charset="-122"/>
                <a:cs typeface="Epilogue" pitchFamily="34" charset="-120"/>
              </a:rPr>
              <a:t>Дом и сад, Мебель, Кулинария, Одежда, Спорт</a:t>
            </a:r>
            <a:endParaRPr lang="en-US" sz="1000" dirty="0">
              <a:latin typeface="+mj-lt"/>
            </a:endParaRPr>
          </a:p>
        </p:txBody>
      </p:sp>
      <p:sp>
        <p:nvSpPr>
          <p:cNvPr id="59" name="Text 57"/>
          <p:cNvSpPr/>
          <p:nvPr/>
        </p:nvSpPr>
        <p:spPr>
          <a:xfrm>
            <a:off x="9200317" y="4984432"/>
            <a:ext cx="2372678" cy="3178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1000" dirty="0">
                <a:solidFill>
                  <a:srgbClr val="EBECEF"/>
                </a:solidFill>
                <a:latin typeface="+mj-lt"/>
                <a:ea typeface="Epilogue" pitchFamily="34" charset="-122"/>
                <a:cs typeface="Epilogue" pitchFamily="34" charset="-120"/>
              </a:rPr>
              <a:t>Товары для дома, Садоводство, Рецепты, Дизайн интерьера</a:t>
            </a:r>
            <a:endParaRPr lang="en-US" sz="1000" dirty="0">
              <a:latin typeface="+mj-lt"/>
            </a:endParaRPr>
          </a:p>
        </p:txBody>
      </p:sp>
      <p:sp>
        <p:nvSpPr>
          <p:cNvPr id="60" name="Shape 58"/>
          <p:cNvSpPr/>
          <p:nvPr/>
        </p:nvSpPr>
        <p:spPr>
          <a:xfrm>
            <a:off x="2930128" y="5352812"/>
            <a:ext cx="8770144" cy="418862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61" name="Text 59"/>
          <p:cNvSpPr/>
          <p:nvPr/>
        </p:nvSpPr>
        <p:spPr>
          <a:xfrm>
            <a:off x="3057525" y="5403294"/>
            <a:ext cx="180142" cy="1589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1000" dirty="0">
                <a:solidFill>
                  <a:srgbClr val="EBECEF"/>
                </a:solidFill>
                <a:latin typeface="+mj-lt"/>
                <a:ea typeface="Epilogue" pitchFamily="34" charset="-122"/>
                <a:cs typeface="Epilogue" pitchFamily="34" charset="-120"/>
              </a:rPr>
              <a:t>7</a:t>
            </a:r>
            <a:endParaRPr lang="en-US" sz="1000" dirty="0">
              <a:latin typeface="+mj-lt"/>
            </a:endParaRPr>
          </a:p>
        </p:txBody>
      </p:sp>
      <p:sp>
        <p:nvSpPr>
          <p:cNvPr id="62" name="Text 60"/>
          <p:cNvSpPr/>
          <p:nvPr/>
        </p:nvSpPr>
        <p:spPr>
          <a:xfrm>
            <a:off x="3499842" y="5403294"/>
            <a:ext cx="1053346" cy="3178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1000" dirty="0">
                <a:solidFill>
                  <a:srgbClr val="EBECEF"/>
                </a:solidFill>
                <a:latin typeface="+mj-lt"/>
                <a:ea typeface="Epilogue" pitchFamily="34" charset="-122"/>
                <a:cs typeface="Epilogue" pitchFamily="34" charset="-120"/>
              </a:rPr>
              <a:t>Здоровый образ жизни</a:t>
            </a:r>
            <a:endParaRPr lang="en-US" sz="1000" dirty="0">
              <a:latin typeface="+mj-lt"/>
            </a:endParaRPr>
          </a:p>
        </p:txBody>
      </p:sp>
      <p:sp>
        <p:nvSpPr>
          <p:cNvPr id="63" name="Text 61"/>
          <p:cNvSpPr/>
          <p:nvPr/>
        </p:nvSpPr>
        <p:spPr>
          <a:xfrm>
            <a:off x="4815364" y="5403294"/>
            <a:ext cx="439341" cy="1589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1000" dirty="0">
                <a:solidFill>
                  <a:srgbClr val="EBECEF"/>
                </a:solidFill>
                <a:latin typeface="+mj-lt"/>
                <a:ea typeface="Epilogue" pitchFamily="34" charset="-122"/>
                <a:cs typeface="Epilogue" pitchFamily="34" charset="-120"/>
              </a:rPr>
              <a:t>4750</a:t>
            </a:r>
            <a:endParaRPr lang="en-US" sz="1000" dirty="0">
              <a:latin typeface="+mj-lt"/>
            </a:endParaRPr>
          </a:p>
        </p:txBody>
      </p:sp>
      <p:sp>
        <p:nvSpPr>
          <p:cNvPr id="64" name="Text 62"/>
          <p:cNvSpPr/>
          <p:nvPr/>
        </p:nvSpPr>
        <p:spPr>
          <a:xfrm>
            <a:off x="5516880" y="5403294"/>
            <a:ext cx="790218" cy="1589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1000" dirty="0">
                <a:solidFill>
                  <a:srgbClr val="EBECEF"/>
                </a:solidFill>
                <a:latin typeface="+mj-lt"/>
                <a:ea typeface="Epilogue" pitchFamily="34" charset="-122"/>
                <a:cs typeface="Epilogue" pitchFamily="34" charset="-120"/>
              </a:rPr>
              <a:t>30.2±9.5</a:t>
            </a:r>
            <a:endParaRPr lang="en-US" sz="1000" dirty="0">
              <a:latin typeface="+mj-lt"/>
            </a:endParaRPr>
          </a:p>
        </p:txBody>
      </p:sp>
      <p:sp>
        <p:nvSpPr>
          <p:cNvPr id="65" name="Text 63"/>
          <p:cNvSpPr/>
          <p:nvPr/>
        </p:nvSpPr>
        <p:spPr>
          <a:xfrm>
            <a:off x="6569273" y="5403294"/>
            <a:ext cx="2368868" cy="3178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1000" dirty="0">
                <a:solidFill>
                  <a:srgbClr val="EBECEF"/>
                </a:solidFill>
                <a:latin typeface="+mj-lt"/>
                <a:ea typeface="Epilogue" pitchFamily="34" charset="-122"/>
                <a:cs typeface="Epilogue" pitchFamily="34" charset="-120"/>
              </a:rPr>
              <a:t>Спорт, Здоровье, ПП, Фитнес, Медицина</a:t>
            </a:r>
            <a:endParaRPr lang="en-US" sz="1000" dirty="0">
              <a:latin typeface="+mj-lt"/>
            </a:endParaRPr>
          </a:p>
        </p:txBody>
      </p:sp>
      <p:sp>
        <p:nvSpPr>
          <p:cNvPr id="66" name="Text 64"/>
          <p:cNvSpPr/>
          <p:nvPr/>
        </p:nvSpPr>
        <p:spPr>
          <a:xfrm>
            <a:off x="9200317" y="5403294"/>
            <a:ext cx="2372678" cy="3178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1000" dirty="0">
                <a:solidFill>
                  <a:srgbClr val="EBECEF"/>
                </a:solidFill>
                <a:latin typeface="+mj-lt"/>
                <a:ea typeface="Epilogue" pitchFamily="34" charset="-122"/>
                <a:cs typeface="Epilogue" pitchFamily="34" charset="-120"/>
              </a:rPr>
              <a:t>Фитнес-трекеры, Диеты, ЗОЖ, Эко-продукты</a:t>
            </a:r>
            <a:endParaRPr lang="en-US" sz="1000" dirty="0">
              <a:latin typeface="+mj-lt"/>
            </a:endParaRPr>
          </a:p>
        </p:txBody>
      </p:sp>
      <p:sp>
        <p:nvSpPr>
          <p:cNvPr id="67" name="Shape 65"/>
          <p:cNvSpPr/>
          <p:nvPr/>
        </p:nvSpPr>
        <p:spPr>
          <a:xfrm>
            <a:off x="2930128" y="5771674"/>
            <a:ext cx="8770144" cy="418862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68" name="Text 66"/>
          <p:cNvSpPr/>
          <p:nvPr/>
        </p:nvSpPr>
        <p:spPr>
          <a:xfrm>
            <a:off x="3057525" y="5822156"/>
            <a:ext cx="180142" cy="1589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1000" dirty="0">
                <a:solidFill>
                  <a:srgbClr val="EBECEF"/>
                </a:solidFill>
                <a:latin typeface="+mj-lt"/>
                <a:ea typeface="Epilogue" pitchFamily="34" charset="-122"/>
                <a:cs typeface="Epilogue" pitchFamily="34" charset="-120"/>
              </a:rPr>
              <a:t>8</a:t>
            </a:r>
            <a:endParaRPr lang="en-US" sz="1000" dirty="0">
              <a:latin typeface="+mj-lt"/>
            </a:endParaRPr>
          </a:p>
        </p:txBody>
      </p:sp>
      <p:sp>
        <p:nvSpPr>
          <p:cNvPr id="69" name="Text 67"/>
          <p:cNvSpPr/>
          <p:nvPr/>
        </p:nvSpPr>
        <p:spPr>
          <a:xfrm>
            <a:off x="3499842" y="5822156"/>
            <a:ext cx="1053346" cy="3178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1000" dirty="0">
                <a:solidFill>
                  <a:srgbClr val="EBECEF"/>
                </a:solidFill>
                <a:latin typeface="+mj-lt"/>
                <a:ea typeface="Epilogue" pitchFamily="34" charset="-122"/>
                <a:cs typeface="Epilogue" pitchFamily="34" charset="-120"/>
              </a:rPr>
              <a:t>Путешественники</a:t>
            </a:r>
            <a:endParaRPr lang="en-US" sz="1000" dirty="0">
              <a:latin typeface="+mj-lt"/>
            </a:endParaRPr>
          </a:p>
        </p:txBody>
      </p:sp>
      <p:sp>
        <p:nvSpPr>
          <p:cNvPr id="70" name="Text 68"/>
          <p:cNvSpPr/>
          <p:nvPr/>
        </p:nvSpPr>
        <p:spPr>
          <a:xfrm>
            <a:off x="4815364" y="5822156"/>
            <a:ext cx="439341" cy="1589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1000" dirty="0">
                <a:solidFill>
                  <a:srgbClr val="EBECEF"/>
                </a:solidFill>
                <a:latin typeface="+mj-lt"/>
                <a:ea typeface="Epilogue" pitchFamily="34" charset="-122"/>
                <a:cs typeface="Epilogue" pitchFamily="34" charset="-120"/>
              </a:rPr>
              <a:t>2100</a:t>
            </a:r>
            <a:endParaRPr lang="en-US" sz="1000" dirty="0">
              <a:latin typeface="+mj-lt"/>
            </a:endParaRPr>
          </a:p>
        </p:txBody>
      </p:sp>
      <p:sp>
        <p:nvSpPr>
          <p:cNvPr id="71" name="Text 69"/>
          <p:cNvSpPr/>
          <p:nvPr/>
        </p:nvSpPr>
        <p:spPr>
          <a:xfrm>
            <a:off x="5516880" y="5822156"/>
            <a:ext cx="790218" cy="1589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1000" dirty="0">
                <a:solidFill>
                  <a:srgbClr val="EBECEF"/>
                </a:solidFill>
                <a:latin typeface="+mj-lt"/>
                <a:ea typeface="Epilogue" pitchFamily="34" charset="-122"/>
                <a:cs typeface="Epilogue" pitchFamily="34" charset="-120"/>
              </a:rPr>
              <a:t>38.7±13.0</a:t>
            </a:r>
            <a:endParaRPr lang="en-US" sz="1000" dirty="0">
              <a:latin typeface="+mj-lt"/>
            </a:endParaRPr>
          </a:p>
        </p:txBody>
      </p:sp>
      <p:sp>
        <p:nvSpPr>
          <p:cNvPr id="72" name="Text 70"/>
          <p:cNvSpPr/>
          <p:nvPr/>
        </p:nvSpPr>
        <p:spPr>
          <a:xfrm>
            <a:off x="6569273" y="5822156"/>
            <a:ext cx="2368868" cy="3178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1000" dirty="0">
                <a:solidFill>
                  <a:srgbClr val="EBECEF"/>
                </a:solidFill>
                <a:latin typeface="+mj-lt"/>
                <a:ea typeface="Epilogue" pitchFamily="34" charset="-122"/>
                <a:cs typeface="Epilogue" pitchFamily="34" charset="-120"/>
              </a:rPr>
              <a:t>Путешествия, Отели, Авиабилеты, Развлечения, Аксессуары</a:t>
            </a:r>
            <a:endParaRPr lang="en-US" sz="1000" dirty="0">
              <a:latin typeface="+mj-lt"/>
            </a:endParaRPr>
          </a:p>
        </p:txBody>
      </p:sp>
      <p:sp>
        <p:nvSpPr>
          <p:cNvPr id="73" name="Text 71"/>
          <p:cNvSpPr/>
          <p:nvPr/>
        </p:nvSpPr>
        <p:spPr>
          <a:xfrm>
            <a:off x="9200317" y="5822156"/>
            <a:ext cx="2372678" cy="3178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1000" dirty="0">
                <a:solidFill>
                  <a:srgbClr val="EBECEF"/>
                </a:solidFill>
                <a:latin typeface="+mj-lt"/>
                <a:ea typeface="Epilogue" pitchFamily="34" charset="-122"/>
                <a:cs typeface="Epilogue" pitchFamily="34" charset="-120"/>
              </a:rPr>
              <a:t>Туризм, Бронирование, Отдых, Культура</a:t>
            </a:r>
            <a:endParaRPr lang="en-US" sz="1000" dirty="0">
              <a:latin typeface="+mj-lt"/>
            </a:endParaRPr>
          </a:p>
        </p:txBody>
      </p:sp>
      <p:sp>
        <p:nvSpPr>
          <p:cNvPr id="74" name="Shape 72"/>
          <p:cNvSpPr/>
          <p:nvPr/>
        </p:nvSpPr>
        <p:spPr>
          <a:xfrm>
            <a:off x="2930128" y="6190536"/>
            <a:ext cx="8770144" cy="418862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75" name="Text 73"/>
          <p:cNvSpPr/>
          <p:nvPr/>
        </p:nvSpPr>
        <p:spPr>
          <a:xfrm>
            <a:off x="3057525" y="6241018"/>
            <a:ext cx="180142" cy="1589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1000" dirty="0">
                <a:solidFill>
                  <a:srgbClr val="EBECEF"/>
                </a:solidFill>
                <a:latin typeface="+mj-lt"/>
                <a:ea typeface="Epilogue" pitchFamily="34" charset="-122"/>
                <a:cs typeface="Epilogue" pitchFamily="34" charset="-120"/>
              </a:rPr>
              <a:t>9</a:t>
            </a:r>
            <a:endParaRPr lang="en-US" sz="1000" dirty="0">
              <a:latin typeface="+mj-lt"/>
            </a:endParaRPr>
          </a:p>
        </p:txBody>
      </p:sp>
      <p:sp>
        <p:nvSpPr>
          <p:cNvPr id="76" name="Text 74"/>
          <p:cNvSpPr/>
          <p:nvPr/>
        </p:nvSpPr>
        <p:spPr>
          <a:xfrm>
            <a:off x="3499842" y="6241018"/>
            <a:ext cx="1053346" cy="1589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1000" dirty="0">
                <a:solidFill>
                  <a:srgbClr val="EBECEF"/>
                </a:solidFill>
                <a:latin typeface="+mj-lt"/>
                <a:ea typeface="Epilogue" pitchFamily="34" charset="-122"/>
                <a:cs typeface="Epilogue" pitchFamily="34" charset="-120"/>
              </a:rPr>
              <a:t>Автолюбители</a:t>
            </a:r>
            <a:endParaRPr lang="en-US" sz="1000" dirty="0">
              <a:latin typeface="+mj-lt"/>
            </a:endParaRPr>
          </a:p>
        </p:txBody>
      </p:sp>
      <p:sp>
        <p:nvSpPr>
          <p:cNvPr id="77" name="Text 75"/>
          <p:cNvSpPr/>
          <p:nvPr/>
        </p:nvSpPr>
        <p:spPr>
          <a:xfrm>
            <a:off x="4815364" y="6241018"/>
            <a:ext cx="439341" cy="1589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1000" dirty="0">
                <a:solidFill>
                  <a:srgbClr val="EBECEF"/>
                </a:solidFill>
                <a:latin typeface="+mj-lt"/>
                <a:ea typeface="Epilogue" pitchFamily="34" charset="-122"/>
                <a:cs typeface="Epilogue" pitchFamily="34" charset="-120"/>
              </a:rPr>
              <a:t>2500</a:t>
            </a:r>
            <a:endParaRPr lang="en-US" sz="1000" dirty="0">
              <a:latin typeface="+mj-lt"/>
            </a:endParaRPr>
          </a:p>
        </p:txBody>
      </p:sp>
      <p:sp>
        <p:nvSpPr>
          <p:cNvPr id="78" name="Text 76"/>
          <p:cNvSpPr/>
          <p:nvPr/>
        </p:nvSpPr>
        <p:spPr>
          <a:xfrm>
            <a:off x="5516880" y="6241018"/>
            <a:ext cx="790218" cy="1589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1000" dirty="0">
                <a:solidFill>
                  <a:srgbClr val="EBECEF"/>
                </a:solidFill>
                <a:latin typeface="+mj-lt"/>
                <a:ea typeface="Epilogue" pitchFamily="34" charset="-122"/>
                <a:cs typeface="Epilogue" pitchFamily="34" charset="-120"/>
              </a:rPr>
              <a:t>42.0±10.0</a:t>
            </a:r>
            <a:endParaRPr lang="en-US" sz="1000" dirty="0">
              <a:latin typeface="+mj-lt"/>
            </a:endParaRPr>
          </a:p>
        </p:txBody>
      </p:sp>
      <p:sp>
        <p:nvSpPr>
          <p:cNvPr id="79" name="Text 77"/>
          <p:cNvSpPr/>
          <p:nvPr/>
        </p:nvSpPr>
        <p:spPr>
          <a:xfrm>
            <a:off x="6569273" y="6241018"/>
            <a:ext cx="2368868" cy="3178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1000" dirty="0">
                <a:solidFill>
                  <a:srgbClr val="EBECEF"/>
                </a:solidFill>
                <a:latin typeface="+mj-lt"/>
                <a:ea typeface="Epilogue" pitchFamily="34" charset="-122"/>
                <a:cs typeface="Epilogue" pitchFamily="34" charset="-120"/>
              </a:rPr>
              <a:t>Авто, Запчасти, Сервис, Техника, Спорт</a:t>
            </a:r>
            <a:endParaRPr lang="en-US" sz="1000" dirty="0">
              <a:latin typeface="+mj-lt"/>
            </a:endParaRPr>
          </a:p>
        </p:txBody>
      </p:sp>
      <p:sp>
        <p:nvSpPr>
          <p:cNvPr id="80" name="Text 78"/>
          <p:cNvSpPr/>
          <p:nvPr/>
        </p:nvSpPr>
        <p:spPr>
          <a:xfrm>
            <a:off x="9200317" y="6241018"/>
            <a:ext cx="2372678" cy="3178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1000" dirty="0">
                <a:solidFill>
                  <a:srgbClr val="EBECEF"/>
                </a:solidFill>
                <a:latin typeface="+mj-lt"/>
                <a:ea typeface="Epilogue" pitchFamily="34" charset="-122"/>
                <a:cs typeface="Epilogue" pitchFamily="34" charset="-120"/>
              </a:rPr>
              <a:t>Автомобили, Мотоциклы, Ремонт, Тюнинг</a:t>
            </a:r>
            <a:endParaRPr lang="en-US" sz="1000" dirty="0">
              <a:latin typeface="+mj-lt"/>
            </a:endParaRPr>
          </a:p>
        </p:txBody>
      </p:sp>
      <p:sp>
        <p:nvSpPr>
          <p:cNvPr id="81" name="Прямоугольник 80">
            <a:extLst>
              <a:ext uri="{FF2B5EF4-FFF2-40B4-BE49-F238E27FC236}">
                <a16:creationId xmlns:a16="http://schemas.microsoft.com/office/drawing/2014/main" id="{1DBC6D09-DBC8-1D1E-7C79-984134711F31}"/>
              </a:ext>
            </a:extLst>
          </p:cNvPr>
          <p:cNvSpPr/>
          <p:nvPr/>
        </p:nvSpPr>
        <p:spPr>
          <a:xfrm>
            <a:off x="11869614" y="6805245"/>
            <a:ext cx="2760785" cy="1348553"/>
          </a:xfrm>
          <a:prstGeom prst="rect">
            <a:avLst/>
          </a:prstGeom>
          <a:solidFill>
            <a:srgbClr val="070E25"/>
          </a:solidFill>
          <a:ln>
            <a:solidFill>
              <a:srgbClr val="070E2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8729" y="652413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FFFFFF"/>
                </a:solidFill>
                <a:latin typeface="+mj-lt"/>
                <a:ea typeface="Fraunces Medium" pitchFamily="34" charset="-122"/>
                <a:cs typeface="Fraunces Medium" pitchFamily="34" charset="-120"/>
              </a:rPr>
              <a:t>Профили кластеров</a:t>
            </a:r>
            <a:endParaRPr lang="en-US" sz="4450" dirty="0">
              <a:latin typeface="+mj-lt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4E91F21E-807A-A116-226E-BF5A13BA7E80}"/>
              </a:ext>
            </a:extLst>
          </p:cNvPr>
          <p:cNvSpPr/>
          <p:nvPr/>
        </p:nvSpPr>
        <p:spPr>
          <a:xfrm>
            <a:off x="11546958" y="6634716"/>
            <a:ext cx="3083442" cy="1594884"/>
          </a:xfrm>
          <a:prstGeom prst="rect">
            <a:avLst/>
          </a:prstGeom>
          <a:solidFill>
            <a:srgbClr val="070E25"/>
          </a:solidFill>
          <a:ln>
            <a:solidFill>
              <a:srgbClr val="070E2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14B9716D-F062-F8FD-56D5-A839AF6268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729" y="2338753"/>
            <a:ext cx="6832409" cy="3914843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97CD141C-5E35-A832-7EC8-1DE72050A7E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37069" y="2338753"/>
            <a:ext cx="5272942" cy="391484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85177" y="2784606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FFFFFF"/>
                </a:solidFill>
                <a:latin typeface="+mj-lt"/>
                <a:ea typeface="Fraunces Medium" pitchFamily="34" charset="-122"/>
                <a:cs typeface="Fraunces Medium" pitchFamily="34" charset="-120"/>
              </a:rPr>
              <a:t>Заключение</a:t>
            </a:r>
            <a:endParaRPr lang="en-US" sz="4450" dirty="0">
              <a:latin typeface="+mj-lt"/>
            </a:endParaRPr>
          </a:p>
        </p:txBody>
      </p:sp>
      <p:sp>
        <p:nvSpPr>
          <p:cNvPr id="3" name="Text 1"/>
          <p:cNvSpPr/>
          <p:nvPr/>
        </p:nvSpPr>
        <p:spPr>
          <a:xfrm>
            <a:off x="985177" y="3947013"/>
            <a:ext cx="1304282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BECEF"/>
                </a:solidFill>
                <a:latin typeface="+mj-lt"/>
                <a:ea typeface="Epilogue" pitchFamily="34" charset="-122"/>
                <a:cs typeface="Epilogue" pitchFamily="34" charset="-120"/>
              </a:rPr>
              <a:t>Построено 10 сегментов абонентов на основе NMF + K‑Means. Модель даёт интерпретируемые профили и выявляет значимые различия по возрасту. Сегменты готовы к применению в таргетинге, персонализации офферов и разработке продуктов под </a:t>
            </a:r>
            <a:r>
              <a:rPr lang="en-US" sz="1750" dirty="0" err="1">
                <a:solidFill>
                  <a:srgbClr val="EBECEF"/>
                </a:solidFill>
                <a:latin typeface="+mj-lt"/>
                <a:ea typeface="Epilogue" pitchFamily="34" charset="-122"/>
                <a:cs typeface="Epilogue" pitchFamily="34" charset="-120"/>
              </a:rPr>
              <a:t>конкретные</a:t>
            </a:r>
            <a:r>
              <a:rPr lang="en-US" sz="1750" dirty="0">
                <a:solidFill>
                  <a:srgbClr val="EBECEF"/>
                </a:solidFill>
                <a:latin typeface="+mj-lt"/>
                <a:ea typeface="Epilogue" pitchFamily="34" charset="-122"/>
                <a:cs typeface="Epilogue" pitchFamily="34" charset="-120"/>
              </a:rPr>
              <a:t> </a:t>
            </a:r>
            <a:r>
              <a:rPr lang="en-US" sz="1750" dirty="0" err="1">
                <a:solidFill>
                  <a:srgbClr val="EBECEF"/>
                </a:solidFill>
                <a:latin typeface="+mj-lt"/>
                <a:ea typeface="Epilogue" pitchFamily="34" charset="-122"/>
                <a:cs typeface="Epilogue" pitchFamily="34" charset="-120"/>
              </a:rPr>
              <a:t>аудитории</a:t>
            </a:r>
            <a:r>
              <a:rPr lang="ru-RU" sz="1750" dirty="0">
                <a:solidFill>
                  <a:schemeClr val="bg1"/>
                </a:solidFill>
                <a:latin typeface="+mj-lt"/>
                <a:ea typeface="Epilogue" pitchFamily="34" charset="-122"/>
                <a:cs typeface="Epilogue" pitchFamily="34" charset="-120"/>
              </a:rPr>
              <a:t>. Конкретные предложения по отдельным кластерам можно увидеть в приложенном отчете</a:t>
            </a:r>
            <a:endParaRPr lang="ru-RU" sz="1750" dirty="0">
              <a:solidFill>
                <a:srgbClr val="EBECEF"/>
              </a:solidFill>
              <a:latin typeface="+mj-lt"/>
              <a:ea typeface="Epilogue" pitchFamily="34" charset="-122"/>
              <a:cs typeface="Epilogue" pitchFamily="34" charset="-120"/>
            </a:endParaRP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DA18C9F6-4D35-1D40-2C72-F29ABB61E08C}"/>
              </a:ext>
            </a:extLst>
          </p:cNvPr>
          <p:cNvSpPr/>
          <p:nvPr/>
        </p:nvSpPr>
        <p:spPr>
          <a:xfrm>
            <a:off x="11546958" y="6634716"/>
            <a:ext cx="3083442" cy="1594884"/>
          </a:xfrm>
          <a:prstGeom prst="rect">
            <a:avLst/>
          </a:prstGeom>
          <a:solidFill>
            <a:srgbClr val="070E25"/>
          </a:solidFill>
          <a:ln>
            <a:solidFill>
              <a:srgbClr val="070E2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560</Words>
  <Application>Microsoft Macintosh PowerPoint</Application>
  <PresentationFormat>Произвольный</PresentationFormat>
  <Paragraphs>104</Paragraphs>
  <Slides>8</Slides>
  <Notes>8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1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0" baseType="lpstr">
      <vt:lpstr>Arial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Глеб Полещук</cp:lastModifiedBy>
  <cp:revision>3</cp:revision>
  <dcterms:created xsi:type="dcterms:W3CDTF">2026-03-10T20:17:19Z</dcterms:created>
  <dcterms:modified xsi:type="dcterms:W3CDTF">2026-03-10T20:38:57Z</dcterms:modified>
</cp:coreProperties>
</file>